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S Qamus Bold" charset="1" panose="00000800000000000000"/>
      <p:regular r:id="rId21"/>
    </p:embeddedFont>
    <p:embeddedFont>
      <p:font typeface="Catchy Mager" charset="1" panose="02000506000000020004"/>
      <p:regular r:id="rId22"/>
    </p:embeddedFont>
    <p:embeddedFont>
      <p:font typeface="TS Qamus" charset="1" panose="00000500000000000000"/>
      <p:regular r:id="rId23"/>
    </p:embeddedFont>
    <p:embeddedFont>
      <p:font typeface="Open Sans Bold" charset="1" panose="020B0806030504020204"/>
      <p:regular r:id="rId24"/>
    </p:embeddedFont>
    <p:embeddedFont>
      <p:font typeface="Open Sans" charset="1" panose="020B06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145135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840447" y="2855067"/>
            <a:ext cx="10777483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60"/>
              </a:lnSpc>
            </a:pPr>
            <a:r>
              <a:rPr lang="en-US" b="true" sz="96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Ethics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132540"/>
            <a:ext cx="11149686" cy="291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89"/>
              </a:lnSpc>
            </a:pPr>
            <a:r>
              <a:rPr lang="en-US" b="true" sz="199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VINCENT MORIN, AUGUSTIN MOUTON, ANTONIN DOAT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650611">
            <a:off x="13479480" y="5476765"/>
            <a:ext cx="6516949" cy="6932925"/>
          </a:xfrm>
          <a:custGeom>
            <a:avLst/>
            <a:gdLst/>
            <a:ahLst/>
            <a:cxnLst/>
            <a:rect r="r" b="b" t="t" l="l"/>
            <a:pathLst>
              <a:path h="6932925" w="6516949">
                <a:moveTo>
                  <a:pt x="0" y="0"/>
                </a:moveTo>
                <a:lnTo>
                  <a:pt x="6516950" y="0"/>
                </a:lnTo>
                <a:lnTo>
                  <a:pt x="6516950" y="6932925"/>
                </a:lnTo>
                <a:lnTo>
                  <a:pt x="0" y="693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00031" y="7859451"/>
            <a:ext cx="5192177" cy="4114800"/>
          </a:xfrm>
          <a:custGeom>
            <a:avLst/>
            <a:gdLst/>
            <a:ahLst/>
            <a:cxnLst/>
            <a:rect r="r" b="b" t="t" l="l"/>
            <a:pathLst>
              <a:path h="4114800" w="5192177">
                <a:moveTo>
                  <a:pt x="0" y="0"/>
                </a:moveTo>
                <a:lnTo>
                  <a:pt x="5192177" y="0"/>
                </a:lnTo>
                <a:lnTo>
                  <a:pt x="5192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0447" y="4129512"/>
            <a:ext cx="2679874" cy="681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Catchy Mager"/>
                <a:ea typeface="Catchy Mager"/>
                <a:cs typeface="Catchy Mager"/>
                <a:sym typeface="Catchy Mager"/>
              </a:rPr>
              <a:t>Assistant RH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26143" y="3968809"/>
            <a:ext cx="565310" cy="56531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932808"/>
            <a:ext cx="11416216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Table of content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1028700"/>
            <a:ext cx="145135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826143" y="5009794"/>
            <a:ext cx="565310" cy="56531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A904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5608" y="6123447"/>
            <a:ext cx="565310" cy="56531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B907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65133" y="7204534"/>
            <a:ext cx="565310" cy="56531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EB86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96892" y="8277465"/>
            <a:ext cx="565310" cy="56531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4406544">
            <a:off x="1860664" y="7245576"/>
            <a:ext cx="5187039" cy="4875817"/>
          </a:xfrm>
          <a:custGeom>
            <a:avLst/>
            <a:gdLst/>
            <a:ahLst/>
            <a:cxnLst/>
            <a:rect r="r" b="b" t="t" l="l"/>
            <a:pathLst>
              <a:path h="4875817" w="5187039">
                <a:moveTo>
                  <a:pt x="0" y="0"/>
                </a:moveTo>
                <a:lnTo>
                  <a:pt x="5187039" y="0"/>
                </a:lnTo>
                <a:lnTo>
                  <a:pt x="5187039" y="4875817"/>
                </a:lnTo>
                <a:lnTo>
                  <a:pt x="0" y="4875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049919" y="3897819"/>
            <a:ext cx="3394997" cy="64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2775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Data Preparation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46101" y="3462556"/>
            <a:ext cx="1160084" cy="1445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6"/>
              </a:lnSpc>
            </a:pPr>
            <a:r>
              <a:rPr lang="en-US" b="true" sz="765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46101" y="4539947"/>
            <a:ext cx="1160084" cy="1445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6"/>
              </a:lnSpc>
            </a:pPr>
            <a:r>
              <a:rPr lang="en-US" b="true" sz="765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49919" y="4975210"/>
            <a:ext cx="3055525" cy="64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50"/>
              </a:lnSpc>
              <a:spcBef>
                <a:spcPct val="0"/>
              </a:spcBef>
            </a:pPr>
            <a:r>
              <a:rPr lang="en-US" sz="2775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Biais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75566" y="5617194"/>
            <a:ext cx="1160084" cy="1445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6"/>
              </a:lnSpc>
            </a:pPr>
            <a:r>
              <a:rPr lang="en-US" b="true" sz="765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49919" y="6072226"/>
            <a:ext cx="5597653" cy="64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50"/>
              </a:lnSpc>
              <a:spcBef>
                <a:spcPct val="0"/>
              </a:spcBef>
            </a:pPr>
            <a:r>
              <a:rPr lang="en-US" sz="2775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LLM et Fine Tuning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46101" y="6698281"/>
            <a:ext cx="1160084" cy="1445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6"/>
              </a:lnSpc>
            </a:pPr>
            <a:r>
              <a:rPr lang="en-US" b="true" sz="765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49919" y="7056660"/>
            <a:ext cx="3262446" cy="64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50"/>
              </a:lnSpc>
              <a:spcBef>
                <a:spcPct val="0"/>
              </a:spcBef>
            </a:pPr>
            <a:r>
              <a:rPr lang="en-US" sz="2775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Benchmark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85091" y="7779369"/>
            <a:ext cx="1160084" cy="1445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6"/>
              </a:lnSpc>
            </a:pPr>
            <a:r>
              <a:rPr lang="en-US" b="true" sz="765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49919" y="8003177"/>
            <a:ext cx="4370601" cy="64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50"/>
              </a:lnSpc>
              <a:spcBef>
                <a:spcPct val="0"/>
              </a:spcBef>
            </a:pPr>
            <a:r>
              <a:rPr lang="en-US" sz="2775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Solution and XAI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6803419">
            <a:off x="-1564820" y="7078084"/>
            <a:ext cx="5187039" cy="4875817"/>
          </a:xfrm>
          <a:custGeom>
            <a:avLst/>
            <a:gdLst/>
            <a:ahLst/>
            <a:cxnLst/>
            <a:rect r="r" b="b" t="t" l="l"/>
            <a:pathLst>
              <a:path h="4875817" w="5187039">
                <a:moveTo>
                  <a:pt x="0" y="0"/>
                </a:moveTo>
                <a:lnTo>
                  <a:pt x="5187040" y="0"/>
                </a:lnTo>
                <a:lnTo>
                  <a:pt x="5187040" y="4875817"/>
                </a:lnTo>
                <a:lnTo>
                  <a:pt x="0" y="4875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66297" y="3161751"/>
            <a:ext cx="156248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239410" y="2999826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B907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479242" y="2999826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EB868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1028700" y="1028700"/>
            <a:ext cx="145135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1198761">
            <a:off x="-6872534" y="6080691"/>
            <a:ext cx="12639002" cy="12639002"/>
          </a:xfrm>
          <a:custGeom>
            <a:avLst/>
            <a:gdLst/>
            <a:ahLst/>
            <a:cxnLst/>
            <a:rect r="r" b="b" t="t" l="l"/>
            <a:pathLst>
              <a:path h="12639002" w="12639002">
                <a:moveTo>
                  <a:pt x="0" y="0"/>
                </a:moveTo>
                <a:lnTo>
                  <a:pt x="12639002" y="0"/>
                </a:lnTo>
                <a:lnTo>
                  <a:pt x="12639002" y="12639002"/>
                </a:lnTo>
                <a:lnTo>
                  <a:pt x="0" y="12639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79242" y="6784625"/>
            <a:ext cx="8115300" cy="3054145"/>
          </a:xfrm>
          <a:custGeom>
            <a:avLst/>
            <a:gdLst/>
            <a:ahLst/>
            <a:cxnLst/>
            <a:rect r="r" b="b" t="t" l="l"/>
            <a:pathLst>
              <a:path h="3054145" w="8115300">
                <a:moveTo>
                  <a:pt x="0" y="0"/>
                </a:moveTo>
                <a:lnTo>
                  <a:pt x="8115300" y="0"/>
                </a:lnTo>
                <a:lnTo>
                  <a:pt x="8115300" y="3054145"/>
                </a:lnTo>
                <a:lnTo>
                  <a:pt x="0" y="3054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72520" y="1790151"/>
            <a:ext cx="1557539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1: Data preparation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9242" y="3578668"/>
            <a:ext cx="5113832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 sampling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79242" y="4132630"/>
            <a:ext cx="8540610" cy="284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Les interventions cibles étant </a:t>
            </a: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rares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n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avons dû bo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 les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née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Nous avons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utilisé </a:t>
            </a: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l'Oversampling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aligner la quantité de chaque type d'intervention sur la classe majoritaire (183 exemples par intervention), puis équilibré le total à 50 % de Positifs avec les Négatifs. Résultat : 1098 lignes dans le dataset final.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66297" y="3578668"/>
            <a:ext cx="6333946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dataset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6297" y="4132630"/>
            <a:ext cx="7509555" cy="284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Notre dataset est </a:t>
            </a: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longitudinal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suit des utilisateurs sur 731 semaines. Il combine leurs </a:t>
            </a: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informations statiques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(âge, profession, genre) avec des métriques </a:t>
            </a: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hebdomadaires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bien-être et performance (sommeil, travail, stress), et indique la présence de l'une des sept </a:t>
            </a: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interventions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possibles (vacances, arrêt maladie, coaching).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9326820">
            <a:off x="-2829906" y="6904366"/>
            <a:ext cx="8138631" cy="8138631"/>
          </a:xfrm>
          <a:custGeom>
            <a:avLst/>
            <a:gdLst/>
            <a:ahLst/>
            <a:cxnLst/>
            <a:rect r="r" b="b" t="t" l="l"/>
            <a:pathLst>
              <a:path h="8138631" w="8138631">
                <a:moveTo>
                  <a:pt x="0" y="0"/>
                </a:moveTo>
                <a:lnTo>
                  <a:pt x="8138631" y="0"/>
                </a:lnTo>
                <a:lnTo>
                  <a:pt x="8138631" y="8138632"/>
                </a:lnTo>
                <a:lnTo>
                  <a:pt x="0" y="8138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51246" y="1887030"/>
            <a:ext cx="10961021" cy="0"/>
          </a:xfrm>
          <a:prstGeom prst="line">
            <a:avLst/>
          </a:prstGeom>
          <a:ln cap="flat" w="104775">
            <a:solidFill>
              <a:srgbClr val="CD76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8840" y="2872822"/>
            <a:ext cx="8584318" cy="3068894"/>
          </a:xfrm>
          <a:custGeom>
            <a:avLst/>
            <a:gdLst/>
            <a:ahLst/>
            <a:cxnLst/>
            <a:rect r="r" b="b" t="t" l="l"/>
            <a:pathLst>
              <a:path h="3068894" w="8584318">
                <a:moveTo>
                  <a:pt x="0" y="0"/>
                </a:moveTo>
                <a:lnTo>
                  <a:pt x="8584318" y="0"/>
                </a:lnTo>
                <a:lnTo>
                  <a:pt x="8584318" y="3068894"/>
                </a:lnTo>
                <a:lnTo>
                  <a:pt x="0" y="3068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11240" y="2890347"/>
            <a:ext cx="8718198" cy="3051369"/>
          </a:xfrm>
          <a:custGeom>
            <a:avLst/>
            <a:gdLst/>
            <a:ahLst/>
            <a:cxnLst/>
            <a:rect r="r" b="b" t="t" l="l"/>
            <a:pathLst>
              <a:path h="3051369" w="8718198">
                <a:moveTo>
                  <a:pt x="0" y="0"/>
                </a:moveTo>
                <a:lnTo>
                  <a:pt x="8718198" y="0"/>
                </a:lnTo>
                <a:lnTo>
                  <a:pt x="8718198" y="3051369"/>
                </a:lnTo>
                <a:lnTo>
                  <a:pt x="0" y="3051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246460"/>
            <a:ext cx="8813158" cy="3040540"/>
          </a:xfrm>
          <a:custGeom>
            <a:avLst/>
            <a:gdLst/>
            <a:ahLst/>
            <a:cxnLst/>
            <a:rect r="r" b="b" t="t" l="l"/>
            <a:pathLst>
              <a:path h="3040540" w="8813158">
                <a:moveTo>
                  <a:pt x="0" y="0"/>
                </a:moveTo>
                <a:lnTo>
                  <a:pt x="8813158" y="0"/>
                </a:lnTo>
                <a:lnTo>
                  <a:pt x="8813158" y="3040540"/>
                </a:lnTo>
                <a:lnTo>
                  <a:pt x="0" y="3040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11240" y="7239288"/>
            <a:ext cx="8676760" cy="3047712"/>
          </a:xfrm>
          <a:custGeom>
            <a:avLst/>
            <a:gdLst/>
            <a:ahLst/>
            <a:cxnLst/>
            <a:rect r="r" b="b" t="t" l="l"/>
            <a:pathLst>
              <a:path h="3047712" w="8676760">
                <a:moveTo>
                  <a:pt x="0" y="0"/>
                </a:moveTo>
                <a:lnTo>
                  <a:pt x="8676760" y="0"/>
                </a:lnTo>
                <a:lnTo>
                  <a:pt x="8676760" y="3047712"/>
                </a:lnTo>
                <a:lnTo>
                  <a:pt x="0" y="30477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1246" y="453517"/>
            <a:ext cx="12753867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b="true" sz="90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2: Biais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73596" y="2128347"/>
            <a:ext cx="6239550" cy="762000"/>
            <a:chOff x="0" y="0"/>
            <a:chExt cx="8319400" cy="10160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451041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b="true" sz="5000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091886" y="218017"/>
              <a:ext cx="6227514" cy="43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Biais de genre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8840" y="6236991"/>
            <a:ext cx="6239550" cy="762000"/>
            <a:chOff x="0" y="0"/>
            <a:chExt cx="8319400" cy="10160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51041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b="true" sz="5000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03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091886" y="218017"/>
              <a:ext cx="6227514" cy="43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Biais de mode de travail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09069" y="2128347"/>
            <a:ext cx="5719756" cy="762000"/>
            <a:chOff x="0" y="0"/>
            <a:chExt cx="7626341" cy="10160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1330161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b="true" sz="5000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917618" y="218017"/>
              <a:ext cx="5708723" cy="43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Biais d’age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09069" y="6236991"/>
            <a:ext cx="6689884" cy="762000"/>
            <a:chOff x="0" y="0"/>
            <a:chExt cx="8919845" cy="101600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1330161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b="true" sz="5000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04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917618" y="218017"/>
              <a:ext cx="7002227" cy="43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biais d’historique de santé mentale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70760"/>
            <a:ext cx="10961021" cy="0"/>
          </a:xfrm>
          <a:prstGeom prst="line">
            <a:avLst/>
          </a:prstGeom>
          <a:ln cap="flat" w="104775">
            <a:solidFill>
              <a:srgbClr val="CD76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623363" y="2613862"/>
            <a:ext cx="9664637" cy="6644438"/>
          </a:xfrm>
          <a:custGeom>
            <a:avLst/>
            <a:gdLst/>
            <a:ahLst/>
            <a:cxnLst/>
            <a:rect r="r" b="b" t="t" l="l"/>
            <a:pathLst>
              <a:path h="6644438" w="9664637">
                <a:moveTo>
                  <a:pt x="0" y="0"/>
                </a:moveTo>
                <a:lnTo>
                  <a:pt x="9664637" y="0"/>
                </a:lnTo>
                <a:lnTo>
                  <a:pt x="9664637" y="6644438"/>
                </a:lnTo>
                <a:lnTo>
                  <a:pt x="0" y="6644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7248"/>
            <a:ext cx="12753867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b="true" sz="90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2: Biais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73501" y="2408620"/>
            <a:ext cx="5562291" cy="982234"/>
            <a:chOff x="0" y="0"/>
            <a:chExt cx="7416387" cy="130964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451041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b="true" sz="5000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01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188874" y="182097"/>
              <a:ext cx="6227514" cy="1127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9"/>
                </a:lnSpc>
              </a:pPr>
              <a:r>
                <a:rPr lang="en-US" sz="2599" b="true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Calcul du Besoin Objectif</a:t>
              </a:r>
            </a:p>
            <a:p>
              <a:pPr algn="l" marL="0" indent="0" lvl="0">
                <a:lnSpc>
                  <a:spcPts val="33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31750" y="3202466"/>
            <a:ext cx="7509555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Créati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'u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"Score de Diet/Vacances/Sport" impartial basé sur les bi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oma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(IMC, Stress, Sommeil,...) ignorant le ge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nre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 l'âge.</a:t>
            </a:r>
          </a:p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373501" y="4814097"/>
            <a:ext cx="5562291" cy="982234"/>
            <a:chOff x="0" y="0"/>
            <a:chExt cx="7416387" cy="130964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1451041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02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188874" y="182097"/>
              <a:ext cx="6227514" cy="1127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9"/>
                </a:lnSpc>
              </a:pPr>
              <a:r>
                <a:rPr lang="en-US" sz="2599" b="true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Identification des Ecarts</a:t>
              </a:r>
            </a:p>
            <a:p>
              <a:pPr algn="l" marL="0" indent="0" lvl="0">
                <a:lnSpc>
                  <a:spcPts val="33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3501" y="7585655"/>
            <a:ext cx="5562291" cy="762000"/>
            <a:chOff x="0" y="0"/>
            <a:chExt cx="7416387" cy="10160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1451041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03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188874" y="182097"/>
              <a:ext cx="6227514" cy="556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79"/>
                </a:lnSpc>
              </a:pPr>
              <a:r>
                <a:rPr lang="en-US" b="true" sz="2599">
                  <a:solidFill>
                    <a:srgbClr val="000000"/>
                  </a:solidFill>
                  <a:latin typeface="TS Qamus Bold"/>
                  <a:ea typeface="TS Qamus Bold"/>
                  <a:cs typeface="TS Qamus Bold"/>
                  <a:sym typeface="TS Qamus Bold"/>
                </a:rPr>
                <a:t>Ré-étiquetage ("Swap")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31750" y="5739181"/>
            <a:ext cx="7509555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Repérage des groupes privilégiés (sur-attribués) et des gr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oupes défavo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risés (sous-attribués) pour chaque i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nterventi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on.</a:t>
            </a:r>
          </a:p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31750" y="8423910"/>
            <a:ext cx="7509555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Transfert de l'intervention : retirée à un profil sain du groupe privilégié → donnée à un profil à risque du gr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oupe défavo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risé.</a:t>
            </a:r>
          </a:p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145135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472520" y="3846871"/>
            <a:ext cx="14348735" cy="401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Méthode :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Utilisation du 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Split Groupé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(GroupShuffleSplit) en 30 essais pour optimiser la répartition.</a:t>
            </a:r>
          </a:p>
          <a:p>
            <a:pPr algn="l">
              <a:lnSpc>
                <a:spcPts val="2639"/>
              </a:lnSpc>
            </a:pP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Sécurité (Critère Éthique)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: Garantie 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Anti-Fuite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en séparant les utilisateurs (Un profil complet va dans Train 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OU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Test).</a:t>
            </a:r>
          </a:p>
          <a:p>
            <a:pPr algn="l">
              <a:lnSpc>
                <a:spcPts val="2639"/>
              </a:lnSpc>
            </a:pP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Équilibre des Cibles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: Recherche du split minimisant l'écart de pourcentage des interventions entre Train et Test.</a:t>
            </a:r>
          </a:p>
          <a:p>
            <a:pPr algn="l">
              <a:lnSpc>
                <a:spcPts val="2639"/>
              </a:lnSpc>
            </a:pP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Résultats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: 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130721" y="6755212"/>
            <a:ext cx="11690534" cy="2764653"/>
          </a:xfrm>
          <a:custGeom>
            <a:avLst/>
            <a:gdLst/>
            <a:ahLst/>
            <a:cxnLst/>
            <a:rect r="r" b="b" t="t" l="l"/>
            <a:pathLst>
              <a:path h="2764653" w="11690534">
                <a:moveTo>
                  <a:pt x="0" y="0"/>
                </a:moveTo>
                <a:lnTo>
                  <a:pt x="11690534" y="0"/>
                </a:lnTo>
                <a:lnTo>
                  <a:pt x="11690534" y="2764653"/>
                </a:lnTo>
                <a:lnTo>
                  <a:pt x="0" y="2764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72520" y="1790151"/>
            <a:ext cx="1681548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3: LLM et Fine tuning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2520" y="2999826"/>
            <a:ext cx="1681548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Split Train/Test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145135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472520" y="3794824"/>
            <a:ext cx="14348735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Pour le Fine Tuning, nous avons transformé chaque semaine de données en un 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prompt narratif structuré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. Chaque prompt intègre 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l'ensemble des variables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(Identité, Contexte Professionnel, Santé Menta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le, Mode de Vie) et se termine par une 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Instruction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demandant au modèle de 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prédire les interventions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nécessaires. Cette structure 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facilite l'apprentissage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du modèle sur la tâche de classification multi-label.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72520" y="6275746"/>
            <a:ext cx="14844989" cy="853587"/>
          </a:xfrm>
          <a:custGeom>
            <a:avLst/>
            <a:gdLst/>
            <a:ahLst/>
            <a:cxnLst/>
            <a:rect r="r" b="b" t="t" l="l"/>
            <a:pathLst>
              <a:path h="853587" w="14844989">
                <a:moveTo>
                  <a:pt x="0" y="0"/>
                </a:moveTo>
                <a:lnTo>
                  <a:pt x="14844989" y="0"/>
                </a:lnTo>
                <a:lnTo>
                  <a:pt x="14844989" y="853587"/>
                </a:lnTo>
                <a:lnTo>
                  <a:pt x="0" y="853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72520" y="1790151"/>
            <a:ext cx="1681548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3: LLM et Fine tuning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2520" y="2999826"/>
            <a:ext cx="1681548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Génération de prompt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145135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181611" y="5690319"/>
            <a:ext cx="9397298" cy="4217037"/>
          </a:xfrm>
          <a:custGeom>
            <a:avLst/>
            <a:gdLst/>
            <a:ahLst/>
            <a:cxnLst/>
            <a:rect r="r" b="b" t="t" l="l"/>
            <a:pathLst>
              <a:path h="4217037" w="9397298">
                <a:moveTo>
                  <a:pt x="0" y="0"/>
                </a:moveTo>
                <a:lnTo>
                  <a:pt x="9397298" y="0"/>
                </a:lnTo>
                <a:lnTo>
                  <a:pt x="9397298" y="4217037"/>
                </a:lnTo>
                <a:lnTo>
                  <a:pt x="0" y="4217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2520" y="3846871"/>
            <a:ext cx="14348735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Modèle Choisi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: DistilGPT-2. Choisi pour sa rapidité d'entraînement et son efficacité sur la tâche de classification mul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t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i-l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a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bel.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Correction du Biais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: Mise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en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p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l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ac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e d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'un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T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ra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iner Personnalisé av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ec Poids de Classe pour pénaliser plus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s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évè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r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ement les e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rre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urs sur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les interventions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rares (classes m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i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nor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ita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i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res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).</a:t>
            </a:r>
          </a:p>
          <a:p>
            <a:pPr algn="l" marL="949959" indent="-316653" lvl="2">
              <a:lnSpc>
                <a:spcPts val="263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Exempl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e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de Poids : 11.4419 pour la classe la plus rare: intervention_exercise_plan.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Performance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: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72520" y="1790151"/>
            <a:ext cx="1681548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3: LLM et Fine tuning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2520" y="2999826"/>
            <a:ext cx="1681548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Fine Tuning complet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145135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936750" y="5523271"/>
            <a:ext cx="9605541" cy="4262459"/>
          </a:xfrm>
          <a:custGeom>
            <a:avLst/>
            <a:gdLst/>
            <a:ahLst/>
            <a:cxnLst/>
            <a:rect r="r" b="b" t="t" l="l"/>
            <a:pathLst>
              <a:path h="4262459" w="9605541">
                <a:moveTo>
                  <a:pt x="0" y="0"/>
                </a:moveTo>
                <a:lnTo>
                  <a:pt x="9605540" y="0"/>
                </a:lnTo>
                <a:lnTo>
                  <a:pt x="9605540" y="4262459"/>
                </a:lnTo>
                <a:lnTo>
                  <a:pt x="0" y="4262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2520" y="3846871"/>
            <a:ext cx="14348735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Eff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icacité Technique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: LoRA a permis un 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gain d'efficacité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majeur, avec seulement 0.36% des paramètres du modèle DistilGPT-2 entraînés.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Correction du Biais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: Un Trainer Personnalisé a été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mis en œuvre pour appliquer des poids de classe, afin de corriger le déséquilibre persistant des interventions.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Performances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: 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72520" y="1790151"/>
            <a:ext cx="1681548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3: LLM et Fine tuning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2520" y="2999826"/>
            <a:ext cx="1681548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LoRA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28700"/>
            <a:ext cx="1451359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577387" y="5552526"/>
            <a:ext cx="9560163" cy="4325974"/>
          </a:xfrm>
          <a:custGeom>
            <a:avLst/>
            <a:gdLst/>
            <a:ahLst/>
            <a:cxnLst/>
            <a:rect r="r" b="b" t="t" l="l"/>
            <a:pathLst>
              <a:path h="4325974" w="9560163">
                <a:moveTo>
                  <a:pt x="0" y="0"/>
                </a:moveTo>
                <a:lnTo>
                  <a:pt x="9560163" y="0"/>
                </a:lnTo>
                <a:lnTo>
                  <a:pt x="9560163" y="4325974"/>
                </a:lnTo>
                <a:lnTo>
                  <a:pt x="0" y="4325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2520" y="3846871"/>
            <a:ext cx="14348735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Eff</a:t>
            </a: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icacité Technique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: Le processus utilise la Distillation de Connaissances pour transférer les capacités vers un modèle Élève plus léger et rapide, optimisant le déploiement.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Correction du Biais 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: Le maintien de la rigueur méthodolog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ique est assuré par l'intégration des poids de classe dynamiques dans la fonction de perte finale (Weighted BCE), même durant la phase de distillation.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Performances</a:t>
            </a: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: 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72520" y="1790151"/>
            <a:ext cx="1681548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3: LLM et Fine tuning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2520" y="2999826"/>
            <a:ext cx="1681548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Distillation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7447" y="3524361"/>
            <a:ext cx="12021853" cy="6040981"/>
          </a:xfrm>
          <a:custGeom>
            <a:avLst/>
            <a:gdLst/>
            <a:ahLst/>
            <a:cxnLst/>
            <a:rect r="r" b="b" t="t" l="l"/>
            <a:pathLst>
              <a:path h="6040981" w="12021853">
                <a:moveTo>
                  <a:pt x="0" y="0"/>
                </a:moveTo>
                <a:lnTo>
                  <a:pt x="12021853" y="0"/>
                </a:lnTo>
                <a:lnTo>
                  <a:pt x="12021853" y="6040982"/>
                </a:lnTo>
                <a:lnTo>
                  <a:pt x="0" y="6040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541" y="1628775"/>
            <a:ext cx="7739364" cy="2863218"/>
          </a:xfrm>
          <a:custGeom>
            <a:avLst/>
            <a:gdLst/>
            <a:ahLst/>
            <a:cxnLst/>
            <a:rect r="r" b="b" t="t" l="l"/>
            <a:pathLst>
              <a:path h="2863218" w="7739364">
                <a:moveTo>
                  <a:pt x="0" y="0"/>
                </a:moveTo>
                <a:lnTo>
                  <a:pt x="7739364" y="0"/>
                </a:lnTo>
                <a:lnTo>
                  <a:pt x="7739364" y="2863218"/>
                </a:lnTo>
                <a:lnTo>
                  <a:pt x="0" y="2863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6991" y="419100"/>
            <a:ext cx="10768717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4: Benchmark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16420" y="3027974"/>
            <a:ext cx="7055159" cy="5562214"/>
          </a:xfrm>
          <a:custGeom>
            <a:avLst/>
            <a:gdLst/>
            <a:ahLst/>
            <a:cxnLst/>
            <a:rect r="r" b="b" t="t" l="l"/>
            <a:pathLst>
              <a:path h="5562214" w="7055159">
                <a:moveTo>
                  <a:pt x="0" y="0"/>
                </a:moveTo>
                <a:lnTo>
                  <a:pt x="7055160" y="0"/>
                </a:lnTo>
                <a:lnTo>
                  <a:pt x="7055160" y="5562213"/>
                </a:lnTo>
                <a:lnTo>
                  <a:pt x="0" y="5562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6615" y="1538969"/>
            <a:ext cx="1409749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5: Solution and XAI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49795" y="3684814"/>
            <a:ext cx="7388410" cy="5388655"/>
          </a:xfrm>
          <a:custGeom>
            <a:avLst/>
            <a:gdLst/>
            <a:ahLst/>
            <a:cxnLst/>
            <a:rect r="r" b="b" t="t" l="l"/>
            <a:pathLst>
              <a:path h="5388655" w="7388410">
                <a:moveTo>
                  <a:pt x="0" y="0"/>
                </a:moveTo>
                <a:lnTo>
                  <a:pt x="7388410" y="0"/>
                </a:lnTo>
                <a:lnTo>
                  <a:pt x="7388410" y="5388654"/>
                </a:lnTo>
                <a:lnTo>
                  <a:pt x="0" y="5388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6615" y="1538969"/>
            <a:ext cx="1409749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5: Solution and XAI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6615" y="2739119"/>
            <a:ext cx="127813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Lime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05246" y="3533121"/>
            <a:ext cx="8277509" cy="5725179"/>
          </a:xfrm>
          <a:custGeom>
            <a:avLst/>
            <a:gdLst/>
            <a:ahLst/>
            <a:cxnLst/>
            <a:rect r="r" b="b" t="t" l="l"/>
            <a:pathLst>
              <a:path h="5725179" w="8277509">
                <a:moveTo>
                  <a:pt x="0" y="0"/>
                </a:moveTo>
                <a:lnTo>
                  <a:pt x="8277508" y="0"/>
                </a:lnTo>
                <a:lnTo>
                  <a:pt x="8277508" y="5725179"/>
                </a:lnTo>
                <a:lnTo>
                  <a:pt x="0" y="5725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6615" y="1538969"/>
            <a:ext cx="1409749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  <a:spcBef>
                <a:spcPct val="0"/>
              </a:spcBef>
            </a:pPr>
            <a:r>
              <a:rPr lang="en-US" b="true" sz="79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STEP 5: Solution and XAI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6615" y="2739119"/>
            <a:ext cx="14097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Shap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3341" y="2269054"/>
            <a:ext cx="14501319" cy="1190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25"/>
              </a:lnSpc>
            </a:pPr>
            <a:r>
              <a:rPr lang="en-US" b="true" sz="85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Future Perspectives</a:t>
            </a:r>
          </a:p>
        </p:txBody>
      </p:sp>
      <p:sp>
        <p:nvSpPr>
          <p:cNvPr name="AutoShape 3" id="3"/>
          <p:cNvSpPr/>
          <p:nvPr/>
        </p:nvSpPr>
        <p:spPr>
          <a:xfrm>
            <a:off x="1893341" y="4303167"/>
            <a:ext cx="145013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416394" y="5827196"/>
            <a:ext cx="3568923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Amélioration possible en augmentant le jeu de données d’entrainement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41307" y="5598596"/>
            <a:ext cx="3748851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 51 %</a:t>
            </a:r>
          </a:p>
          <a:p>
            <a:pPr algn="ctr" marL="0" indent="0" lvl="0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Limi</a:t>
            </a:r>
            <a:r>
              <a:rPr lang="en-US" b="true" sz="300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te de Performance : Le Modèle est une Aide, pas un Décideur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DAG6XJ1SsI0</dc:identifier>
  <dcterms:modified xsi:type="dcterms:W3CDTF">2011-08-01T06:04:30Z</dcterms:modified>
  <cp:revision>1</cp:revision>
  <dc:title>Présentation Ethics of AI MORIN DOAT MOUTON</dc:title>
</cp:coreProperties>
</file>